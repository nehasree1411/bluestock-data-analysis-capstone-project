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140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Fund Analytics Capstone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Report &amp; Findings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52044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ETL, SQL analytics, performance &amp; risk modelling, and an interactive Power BI dashboard across 40 Indian mutual fund schemes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92640" y="1463040"/>
            <a:ext cx="2011680" cy="2011680"/>
          </a:xfrm>
          <a:prstGeom prst="ellipse">
            <a:avLst/>
          </a:prstGeom>
          <a:solidFill>
            <a:srgbClr val="2A3577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852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Nehasree Uma Tadikonda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61996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(Hons), IIT Guwahati  •  Data Analytics Internship, Bluestock Fintech  •  July 2026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F16960-3398-0DC2-004E-D5E24DFCB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72" y="365760"/>
            <a:ext cx="1188720" cy="11887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9BDB713-D9F7-BE54-B58D-E31F0AA7A2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3611" y="4251960"/>
            <a:ext cx="2954869" cy="16604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report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3F4FB"/>
          </a:solidFill>
          <a:ln w="12700">
            <a:solidFill>
              <a:srgbClr val="DDE0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6712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3288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workflow: ingestion → cleaning → EDA → performance → dashboard → advanced analytics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3F4FB"/>
          </a:solidFill>
          <a:ln w="12700">
            <a:solidFill>
              <a:srgbClr val="DDE0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737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80560" y="216712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ETL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0" y="253288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raw datasets, live AMFI NAV feed, SQLite star schema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60020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3F4FB"/>
          </a:solidFill>
          <a:ln w="12700">
            <a:solidFill>
              <a:srgbClr val="DDE0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737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29600" y="216712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0" y="253288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AUM, SIP, folios, demographics, sectors — 15+ charts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3F4FB"/>
          </a:solidFill>
          <a:ln w="12700">
            <a:solidFill>
              <a:srgbClr val="DDE0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520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395020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Risk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31596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Sharpe, Sortino, Alpha/Beta, VaR/CVaR, fund scorecard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97680" y="338328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3F4FB"/>
          </a:solidFill>
          <a:ln w="12700">
            <a:solidFill>
              <a:srgbClr val="DDE0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3520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80560" y="395020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Advanced Analytics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80560" y="431596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 Power BI dashboard, cohorts, recommender, Monte Carlo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46720" y="338328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3F4FB"/>
          </a:solidFill>
          <a:ln w="12700">
            <a:solidFill>
              <a:srgbClr val="DDE0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3520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229600" y="395020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 Recommendations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0" y="431596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and next steps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Capstone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industry, in numbers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are computed directly from the project's cleaned datasets and processed outputs (Dec 2025 snapshot) — not illustrative placeholders.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3F4FB"/>
          </a:solidFill>
          <a:ln w="12700">
            <a:solidFill>
              <a:srgbClr val="DDE0F0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075688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62.74L Cr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13639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AUM tracked, Dec 2025 (from Rs 30.18L Cr in Mar 2022)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47288" y="196596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3F4FB"/>
          </a:solidFill>
          <a:ln w="12700">
            <a:solidFill>
              <a:srgbClr val="DDE0F0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38728" y="2075688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31,002 Cr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38728" y="313639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All-time-high monthly SIP inflow, Dec 2025 (+17.2% YoY)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45936" y="196596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3F4FB"/>
          </a:solidFill>
          <a:ln w="12700">
            <a:solidFill>
              <a:srgbClr val="DDE0F0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37376" y="2075688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26.12 Cr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37376" y="313639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folios, Dec 2025 (up from 13.26 Cr in Jan 2022)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244584" y="196596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3F4FB"/>
          </a:solidFill>
          <a:ln w="12700">
            <a:solidFill>
              <a:srgbClr val="DDE0F0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336024" y="2075688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/ 10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336024" y="313639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 analysed across fund houses (AMCs)</a:t>
            </a:r>
            <a:endParaRPr lang="en-US" sz="1050" dirty="0"/>
          </a:p>
        </p:txBody>
      </p:sp>
      <p:pic>
        <p:nvPicPr>
          <p:cNvPr id="17" name="Image 0" descr="/home/claude/report_build/images/AUM_Growth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59" y="3794760"/>
            <a:ext cx="4727603" cy="2834640"/>
          </a:xfrm>
          <a:prstGeom prst="rect">
            <a:avLst/>
          </a:prstGeom>
        </p:spPr>
      </p:pic>
      <p:pic>
        <p:nvPicPr>
          <p:cNvPr id="18" name="Image 1" descr="/home/claude/report_build/images/Mnthly_SIP_Inflow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832" y="3794760"/>
            <a:ext cx="4742016" cy="28346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Capstone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six-day, end-to-end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280160" cy="667512"/>
          </a:xfrm>
          <a:prstGeom prst="roundRect">
            <a:avLst>
              <a:gd name="adj" fmla="val 821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12801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011680" y="1508760"/>
            <a:ext cx="28346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37760" y="1508760"/>
            <a:ext cx="66751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10 raw CSVs + live AMFI NAV feed (mfapi.in); validated AMFI codes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04288"/>
            <a:ext cx="1280160" cy="667512"/>
          </a:xfrm>
          <a:prstGeom prst="roundRect">
            <a:avLst>
              <a:gd name="adj" fmla="val 8219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04288"/>
            <a:ext cx="12801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11680" y="2304288"/>
            <a:ext cx="28346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SQL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37760" y="2304288"/>
            <a:ext cx="66751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in SQLite (6 tables); 10 analytical SQL queries; data dictionary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99816"/>
            <a:ext cx="1280160" cy="667512"/>
          </a:xfrm>
          <a:prstGeom prst="roundRect">
            <a:avLst>
              <a:gd name="adj" fmla="val 8219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99816"/>
            <a:ext cx="12801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11680" y="3099816"/>
            <a:ext cx="28346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937760" y="3099816"/>
            <a:ext cx="66751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charts: AUM, SIP, folios, demographics, sectors, correlations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1280160" cy="667512"/>
          </a:xfrm>
          <a:prstGeom prst="roundRect">
            <a:avLst>
              <a:gd name="adj" fmla="val 8219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95344"/>
            <a:ext cx="12801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011680" y="3895344"/>
            <a:ext cx="28346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937760" y="3895344"/>
            <a:ext cx="66751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CAGR, Sharpe, Sortino, Alpha/Beta, max drawdown, composite scorecard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690872"/>
            <a:ext cx="1280160" cy="667512"/>
          </a:xfrm>
          <a:prstGeom prst="roundRect">
            <a:avLst>
              <a:gd name="adj" fmla="val 8219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690872"/>
            <a:ext cx="12801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011680" y="4690872"/>
            <a:ext cx="28346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937760" y="4690872"/>
            <a:ext cx="66751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 interactive dashboard with slicers &amp; drill-through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486400"/>
            <a:ext cx="1280160" cy="667512"/>
          </a:xfrm>
          <a:prstGeom prst="roundRect">
            <a:avLst>
              <a:gd name="adj" fmla="val 8219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486400"/>
            <a:ext cx="12801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011680" y="5486400"/>
            <a:ext cx="28346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937760" y="5486400"/>
            <a:ext cx="66751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VaR/CVaR, rolling Sharpe, cohorts, recommender, HHI, Monte Carlo (bonus)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Capstone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&amp; CLEANING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datasets, cleaned and warehoused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035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schemes across 10 AMCs — SBI, ICICI Prudential, HDFC, Nippon India, Kotak Mahindra, Aditya Birla Sun Life, Axis, UTI, Mirae Asset, DSP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NAV pulled from the AMFI-backed mfapi.in API for HDFC Top 100 Direct + 5 benchmark schemes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history: parsed dates, forward-filled holidays/weekends, de-duplicated, validated NAV &gt; 0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32,778 transactions across 5,000 investors — 92% Verified KYC, 8% Pending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of 40 schemes carry an expense ratio below 1% (policy band: 0.10%–2.50%)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0" y="1554480"/>
            <a:ext cx="4754880" cy="4572000"/>
          </a:xfrm>
          <a:prstGeom prst="roundRect">
            <a:avLst>
              <a:gd name="adj" fmla="val 1600"/>
            </a:avLst>
          </a:prstGeom>
          <a:solidFill>
            <a:srgbClr val="F3F4FB"/>
          </a:solidFill>
          <a:ln w="12700">
            <a:solidFill>
              <a:srgbClr val="DDE0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7373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(SQLite)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223760" y="2240280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E4E8FA"/>
          </a:solidFill>
          <a:ln w="12700">
            <a:solidFill>
              <a:srgbClr val="CDD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0" y="2240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dim_fund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223760" y="2862072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E4E8FA"/>
          </a:solidFill>
          <a:ln w="12700">
            <a:solidFill>
              <a:srgbClr val="CDD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0" y="286207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223760" y="3483864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DD2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0" y="348386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fact_nav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23760" y="4105656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DD2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410565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fact_transactions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223760" y="4727448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DD2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472744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fact_performance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223760" y="5349240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DD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53492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fact_aum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ETL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Capstone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overview</a:t>
            </a:r>
            <a:endParaRPr lang="en-US" sz="3000" dirty="0"/>
          </a:p>
        </p:txBody>
      </p:sp>
      <p:pic>
        <p:nvPicPr>
          <p:cNvPr id="4" name="Image 0" descr="/home/claude/report_build/images/Mutual_Fund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569" y="1417320"/>
            <a:ext cx="9024382" cy="5074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Capstone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AUM growth &amp; SIP inflows</a:t>
            </a:r>
            <a:endParaRPr lang="en-US" sz="3000" dirty="0"/>
          </a:p>
        </p:txBody>
      </p:sp>
      <p:pic>
        <p:nvPicPr>
          <p:cNvPr id="4" name="Image 0" descr="/home/claude/report_build/images/AUM_Growth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86568"/>
            <a:ext cx="5669280" cy="3399263"/>
          </a:xfrm>
          <a:prstGeom prst="rect">
            <a:avLst/>
          </a:prstGeom>
        </p:spPr>
      </p:pic>
      <p:pic>
        <p:nvPicPr>
          <p:cNvPr id="5" name="Image 1" descr="/home/claude/report_build/images/Mnthly_SIP_Inflow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246395"/>
            <a:ext cx="5486400" cy="327961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Mutual Fund leads at Rs 12.50L Cr AUM (Dec 2025), more than doubling since 2022. SIP inflows hit an all-time high of Rs 31,002 Cr in Dec 2025.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Capstone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Investor folio growth &amp; category inflows</a:t>
            </a:r>
            <a:endParaRPr lang="en-US" sz="3000" dirty="0"/>
          </a:p>
        </p:txBody>
      </p:sp>
      <p:pic>
        <p:nvPicPr>
          <p:cNvPr id="4" name="Image 0" descr="/home/claude/report_build/images/Industry_Folio_Co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90016"/>
            <a:ext cx="5669280" cy="3392368"/>
          </a:xfrm>
          <a:prstGeom prst="rect">
            <a:avLst/>
          </a:prstGeom>
        </p:spPr>
      </p:pic>
      <p:pic>
        <p:nvPicPr>
          <p:cNvPr id="5" name="Image 1" descr="/home/claude/report_build/images/Category_Inflow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175325"/>
            <a:ext cx="5486400" cy="342175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Folios nearly doubled — 13.26 Cr (Jan 2022) to 26.12 Cr (Dec 2025). Liquid funds dominate category-wise net inflows month over month.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Capstone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Investor demographics &amp; geography</a:t>
            </a:r>
            <a:endParaRPr lang="en-US" sz="3000" dirty="0"/>
          </a:p>
        </p:txBody>
      </p:sp>
      <p:pic>
        <p:nvPicPr>
          <p:cNvPr id="4" name="Image 0" descr="/home/claude/report_build/images/Investor_Demograph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86568"/>
            <a:ext cx="5669280" cy="3399263"/>
          </a:xfrm>
          <a:prstGeom prst="rect">
            <a:avLst/>
          </a:prstGeom>
        </p:spPr>
      </p:pic>
      <p:pic>
        <p:nvPicPr>
          <p:cNvPr id="5" name="Image 1" descr="/home/claude/report_build/images/Geographic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249711"/>
            <a:ext cx="5486400" cy="327297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aged 26–35 drive ~41% of transactions. T30 cities generate roughly 2x the transaction volume of B30 cities.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Capstone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correlation &amp; sector allocation</a:t>
            </a:r>
            <a:endParaRPr lang="en-US" sz="3000" dirty="0"/>
          </a:p>
        </p:txBody>
      </p:sp>
      <p:pic>
        <p:nvPicPr>
          <p:cNvPr id="4" name="Image 0" descr="/home/claude/report_build/images/NAV_Returns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22809"/>
            <a:ext cx="5760720" cy="3726782"/>
          </a:xfrm>
          <a:prstGeom prst="rect">
            <a:avLst/>
          </a:prstGeom>
        </p:spPr>
      </p:pic>
      <p:pic>
        <p:nvPicPr>
          <p:cNvPr id="5" name="Image 1" descr="/home/claude/report_build/images/Sector_Alloc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646" y="1371600"/>
            <a:ext cx="5075267" cy="4937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(19.2%), IT (13.4%) and Pharma (12.0%) are the largest sector exposures across equity fund holdings.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Capstone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Risk-adjusted return: Sharpe ratio</a:t>
            </a:r>
            <a:endParaRPr lang="en-US" sz="3000" dirty="0"/>
          </a:p>
        </p:txBody>
      </p:sp>
      <p:pic>
        <p:nvPicPr>
          <p:cNvPr id="4" name="Image 0" descr="/home/claude/report_build/images/Sharpe_Rat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54846"/>
            <a:ext cx="6675120" cy="42627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06640" y="1645920"/>
            <a:ext cx="42976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= 6.5% (RBI repo-rate proxy); Sortino uses downside deviation only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Liquid/debt funds top Sharpe due to very low volatility (~0.5% ann.), not high returns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Pru Liquid Fund: Sharpe 7.68  •  Kotak Liquid: 6.18  •  ABSL Liquid: 5.14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Small-cap equity funds post the highest raw 3yr CAGR (22–24%) with moderate Sharpe (0.84–0.94)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Capstone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scorecard &amp; benchmark comparison</a:t>
            </a:r>
            <a:endParaRPr lang="en-US" sz="3000" dirty="0"/>
          </a:p>
        </p:txBody>
      </p:sp>
      <p:pic>
        <p:nvPicPr>
          <p:cNvPr id="4" name="Image 0" descr="/home/claude/report_build/images/Fund_Performance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7500"/>
            <a:ext cx="6949440" cy="3877279"/>
          </a:xfrm>
          <a:prstGeom prst="rect">
            <a:avLst/>
          </a:prstGeom>
        </p:spPr>
      </p:pic>
      <p:pic>
        <p:nvPicPr>
          <p:cNvPr id="5" name="Image 1" descr="/home/claude/report_build/images/Benchmark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2171816"/>
            <a:ext cx="4206240" cy="25143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5623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= 30% 3yr-return + 25% Sharpe + 20% Alpha + 15% expense ratio (inv.) + 10% max-DD (inv.). Scores range 12.4–84.75 (mean 46.1); top scorers are low-cost debt/gilt funds.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Capstone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4-page interactive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97480" cy="2468880"/>
          </a:xfrm>
          <a:prstGeom prst="roundRect">
            <a:avLst>
              <a:gd name="adj" fmla="val 2963"/>
            </a:avLst>
          </a:prstGeom>
          <a:solidFill>
            <a:srgbClr val="2A3577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901952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Industry Overview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2468880"/>
            <a:ext cx="236829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(AUM, SIP, Folios, Schemes), industry AUM trend, AUM by AMC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1737360"/>
            <a:ext cx="2697480" cy="2468880"/>
          </a:xfrm>
          <a:prstGeom prst="roundRect">
            <a:avLst>
              <a:gd name="adj" fmla="val 2963"/>
            </a:avLst>
          </a:prstGeom>
          <a:solidFill>
            <a:srgbClr val="2A3577"/>
          </a:solidFill>
          <a:ln/>
        </p:spPr>
      </p:sp>
      <p:sp>
        <p:nvSpPr>
          <p:cNvPr id="8" name="Text 6"/>
          <p:cNvSpPr/>
          <p:nvPr/>
        </p:nvSpPr>
        <p:spPr>
          <a:xfrm>
            <a:off x="3593592" y="1901952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Fund Performance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93592" y="2468880"/>
            <a:ext cx="236829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vs risk scatter, sortable scorecard, NAV vs benchmark, slicers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737360"/>
            <a:ext cx="2697480" cy="2468880"/>
          </a:xfrm>
          <a:prstGeom prst="roundRect">
            <a:avLst>
              <a:gd name="adj" fmla="val 2963"/>
            </a:avLst>
          </a:prstGeom>
          <a:solidFill>
            <a:srgbClr val="2A3577"/>
          </a:solidFill>
          <a:ln/>
        </p:spPr>
      </p:sp>
      <p:sp>
        <p:nvSpPr>
          <p:cNvPr id="11" name="Text 9"/>
          <p:cNvSpPr/>
          <p:nvPr/>
        </p:nvSpPr>
        <p:spPr>
          <a:xfrm>
            <a:off x="6473952" y="1901952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Investor Analytics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73952" y="2468880"/>
            <a:ext cx="236829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by state, SIP/Lumpsum/Redemption split, age vs SIP, monthly volume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89720" y="1737360"/>
            <a:ext cx="2697480" cy="2468880"/>
          </a:xfrm>
          <a:prstGeom prst="roundRect">
            <a:avLst>
              <a:gd name="adj" fmla="val 2963"/>
            </a:avLst>
          </a:prstGeom>
          <a:solidFill>
            <a:srgbClr val="2A3577"/>
          </a:solidFill>
          <a:ln/>
        </p:spPr>
      </p:sp>
      <p:sp>
        <p:nvSpPr>
          <p:cNvPr id="14" name="Text 12"/>
          <p:cNvSpPr/>
          <p:nvPr/>
        </p:nvSpPr>
        <p:spPr>
          <a:xfrm>
            <a:off x="9354312" y="1901952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SIP &amp; Market Trends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354312" y="2468880"/>
            <a:ext cx="236829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Dual-axis SIP vs Nifty 50, category heatmap, top categories FY25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Drill-through from fund table → NAV detail page  •  Tooltips on all charts  •  Bluestock colour theme &amp; logo  •  Exported to .pbix, Dashboard.pdf, page-level PNGs</a:t>
            </a:r>
            <a:endParaRPr lang="en-US" sz="1200" dirty="0"/>
          </a:p>
        </p:txBody>
      </p:sp>
      <p:pic>
        <p:nvPicPr>
          <p:cNvPr id="17" name="Image 0" descr="/home/claude/report_build/images/Investor_Behavior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370" y="5074920"/>
            <a:ext cx="2526780" cy="1417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Capstone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(VaR/CVaR) &amp; investor behaviour</a:t>
            </a:r>
            <a:endParaRPr lang="en-US" sz="3000" dirty="0"/>
          </a:p>
        </p:txBody>
      </p:sp>
      <p:pic>
        <p:nvPicPr>
          <p:cNvPr id="4" name="Image 0" descr="/home/claude/report_build/images/Daily_Return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99294"/>
            <a:ext cx="5394960" cy="3425172"/>
          </a:xfrm>
          <a:prstGeom prst="rect">
            <a:avLst/>
          </a:prstGeom>
        </p:spPr>
      </p:pic>
      <p:pic>
        <p:nvPicPr>
          <p:cNvPr id="5" name="Image 1" descr="/home/claude/report_build/images/Investor_Behavior_Analys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656115"/>
            <a:ext cx="5669280" cy="318001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historical VaR ranges from -0.02% (liquid funds) to -2.69% (SBI Small Cap Direct) — the highest single-day loss risk in the sample, as expected for small-cap equity.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continuity: investors with 6+ SIPs and &gt;35-day average gaps are flagged "at-risk" for retention outreach.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Capstone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recommender &amp; Monte Carlo simulation (bonus)</a:t>
            </a:r>
            <a:endParaRPr lang="en-US" sz="3000" dirty="0"/>
          </a:p>
        </p:txBody>
      </p:sp>
      <p:pic>
        <p:nvPicPr>
          <p:cNvPr id="4" name="Image 0" descr="/home/claude/report_build/images/Monte_Carlo_Simu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65910"/>
            <a:ext cx="5577840" cy="41833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0" y="1645920"/>
            <a:ext cx="53035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 (recommender.py): input risk appetite (Low / Moderate / High) → top 3 funds by Sharpe within matching risk grade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 projects 5-year NAV paths from each fund's historical return mean/std-dev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fan of simulated outcomes and percentile-based uncertainty bands around the median projection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HHI (concentration): mean 0.140, range 0.107–0.206 across 34 equity schemes; Axis Bluechip most concentrated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Capstone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1556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AUM grew at a ~20% CAGR (2022–2025), reaching Rs 62.74L Cr; SIP inflows nearly doubled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(Sharpe) and raw-return (CAGR) rankings favour very different fund types — liquid/debt vs. small-cap equity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composite scorecard's cost/drawdown weighting favours low-cost debt funds over higher-return equity funds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Small-cap equity funds show materially higher VaR/CVaR than the rest of the universe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26–35 age group and T30 cities dominate transaction volume; Banking/IT/Pharma dominate sector exposure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continuity analysis identifies an actionable "at-risk" investor segment for retention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Capstone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we'd do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1556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recommendations by investor objective (preservation vs. growth) rather than one blended score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VaR/CVaR directly on the dashboard's Fund Performance page, next to return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 retention workflow from the SIP continuity "at-risk" flag before investors fully lapse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mfapi.in NAV refresh via the proposed weekday 8 PM cron job (Bonus B1) to keep the dashboard current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Capstone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7 deliverables + 2 bonus challenges completed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777240"/>
          </a:xfrm>
          <a:prstGeom prst="roundRect">
            <a:avLst>
              <a:gd name="adj" fmla="val 8235"/>
            </a:avLst>
          </a:prstGeom>
          <a:solidFill>
            <a:srgbClr val="2A3577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9164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6916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 (.py / .ipynb)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79392" y="1691640"/>
            <a:ext cx="3566160" cy="777240"/>
          </a:xfrm>
          <a:prstGeom prst="roundRect">
            <a:avLst>
              <a:gd name="adj" fmla="val 8235"/>
            </a:avLst>
          </a:prstGeom>
          <a:solidFill>
            <a:srgbClr val="2A3577"/>
          </a:solidFill>
          <a:ln/>
        </p:spPr>
      </p:sp>
      <p:sp>
        <p:nvSpPr>
          <p:cNvPr id="8" name="Text 6"/>
          <p:cNvSpPr/>
          <p:nvPr/>
        </p:nvSpPr>
        <p:spPr>
          <a:xfrm>
            <a:off x="4443984" y="169164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48072" y="16916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DB + star schema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10144" y="1691640"/>
            <a:ext cx="3566160" cy="777240"/>
          </a:xfrm>
          <a:prstGeom prst="roundRect">
            <a:avLst>
              <a:gd name="adj" fmla="val 8235"/>
            </a:avLst>
          </a:prstGeom>
          <a:solidFill>
            <a:srgbClr val="2A3577"/>
          </a:solidFill>
          <a:ln/>
        </p:spPr>
      </p:sp>
      <p:sp>
        <p:nvSpPr>
          <p:cNvPr id="11" name="Text 9"/>
          <p:cNvSpPr/>
          <p:nvPr/>
        </p:nvSpPr>
        <p:spPr>
          <a:xfrm>
            <a:off x="8174736" y="169164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78824" y="16916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notebook, 15+ charts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633472"/>
            <a:ext cx="3566160" cy="777240"/>
          </a:xfrm>
          <a:prstGeom prst="roundRect">
            <a:avLst>
              <a:gd name="adj" fmla="val 8235"/>
            </a:avLst>
          </a:prstGeom>
          <a:solidFill>
            <a:srgbClr val="2A3577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2633472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263347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+ CSVs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79392" y="2633472"/>
            <a:ext cx="3566160" cy="777240"/>
          </a:xfrm>
          <a:prstGeom prst="roundRect">
            <a:avLst>
              <a:gd name="adj" fmla="val 8235"/>
            </a:avLst>
          </a:prstGeom>
          <a:solidFill>
            <a:srgbClr val="2A3577"/>
          </a:solidFill>
          <a:ln/>
        </p:spPr>
      </p:sp>
      <p:sp>
        <p:nvSpPr>
          <p:cNvPr id="17" name="Text 15"/>
          <p:cNvSpPr/>
          <p:nvPr/>
        </p:nvSpPr>
        <p:spPr>
          <a:xfrm>
            <a:off x="4443984" y="2633472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48072" y="263347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(4 pages)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10144" y="2633472"/>
            <a:ext cx="3566160" cy="777240"/>
          </a:xfrm>
          <a:prstGeom prst="roundRect">
            <a:avLst>
              <a:gd name="adj" fmla="val 8235"/>
            </a:avLst>
          </a:prstGeom>
          <a:solidFill>
            <a:srgbClr val="2A3577"/>
          </a:solidFill>
          <a:ln/>
        </p:spPr>
      </p:sp>
      <p:sp>
        <p:nvSpPr>
          <p:cNvPr id="20" name="Text 18"/>
          <p:cNvSpPr/>
          <p:nvPr/>
        </p:nvSpPr>
        <p:spPr>
          <a:xfrm>
            <a:off x="8174736" y="2633472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78824" y="263347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notebook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575304"/>
            <a:ext cx="3566160" cy="777240"/>
          </a:xfrm>
          <a:prstGeom prst="roundRect">
            <a:avLst>
              <a:gd name="adj" fmla="val 8235"/>
            </a:avLst>
          </a:prstGeom>
          <a:solidFill>
            <a:srgbClr val="2A3577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3575304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17320" y="3575304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(this deck + PDF)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79392" y="3575304"/>
            <a:ext cx="3566160" cy="777240"/>
          </a:xfrm>
          <a:prstGeom prst="roundRect">
            <a:avLst>
              <a:gd name="adj" fmla="val 8235"/>
            </a:avLst>
          </a:prstGeom>
          <a:solidFill>
            <a:srgbClr val="2A3577"/>
          </a:solidFill>
          <a:ln/>
        </p:spPr>
      </p:sp>
      <p:sp>
        <p:nvSpPr>
          <p:cNvPr id="26" name="Text 24"/>
          <p:cNvSpPr/>
          <p:nvPr/>
        </p:nvSpPr>
        <p:spPr>
          <a:xfrm>
            <a:off x="4443984" y="3575304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48072" y="3575304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ETL (cron, bonus)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10144" y="3575304"/>
            <a:ext cx="3566160" cy="777240"/>
          </a:xfrm>
          <a:prstGeom prst="roundRect">
            <a:avLst>
              <a:gd name="adj" fmla="val 8235"/>
            </a:avLst>
          </a:prstGeom>
          <a:solidFill>
            <a:srgbClr val="2A3577"/>
          </a:solidFill>
          <a:ln/>
        </p:spPr>
      </p:sp>
      <p:sp>
        <p:nvSpPr>
          <p:cNvPr id="29" name="Text 27"/>
          <p:cNvSpPr/>
          <p:nvPr/>
        </p:nvSpPr>
        <p:spPr>
          <a:xfrm>
            <a:off x="8174736" y="3575304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878824" y="3575304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 (bonus)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4663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48640" y="5166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repository: ETL scripts, notebooks, PostgreSQL DB, dashboard (.pbix) and this report are available in the project folder.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Capstone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1435</Words>
  <Application>Microsoft Office PowerPoint</Application>
  <PresentationFormat>Widescreen</PresentationFormat>
  <Paragraphs>203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Mutual Fund Analytics — Final Report</dc:title>
  <dc:subject>PptxGenJS Presentation</dc:subject>
  <dc:creator>Nehasree Uma Tadikonda</dc:creator>
  <cp:lastModifiedBy>Nehasree Tadikonda</cp:lastModifiedBy>
  <cp:revision>2</cp:revision>
  <dcterms:created xsi:type="dcterms:W3CDTF">2026-07-10T13:28:06Z</dcterms:created>
  <dcterms:modified xsi:type="dcterms:W3CDTF">2026-07-11T06:45:46Z</dcterms:modified>
</cp:coreProperties>
</file>